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this slide. One sentence: AFC services hospital air handlers, and these two apps are how the work gets recorded and how the hospital sees it. Then: Field is for our techs. Portal is read-only for the hospital.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pain is split three ways: the sticker on the unit, the tech in the penthouse, and facilities in the office. Paper books and 'ask the last guy' do not scale. This system is the same survey for all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login idea (name/username + PIN), different product. Hospital logins cannot open Field tools. Field tokens cannot open portal APIs. One sticker on the AHU: techs get the job, hospital logins get status.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flow: open AFC Field, scan, do the job. Offline: download the hospital from the list, then you can still work. Reopen: they used to hit login every time because the PWA started on the PIN screen; that now resumes Home if the token is still good. Tokens still expire at 12 hours.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a real label if you have one. Point out: AHU — building is what you read from ten feet away. Hospital name is confirmation. QR is the database row, not a PDF. Scan as a logged-in tech → FilterInfo. Scan as a hospital login → portal unit page. Scan logged out → sign-in, then the unit.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director home. Counts: AHUs, on schedule, due soon, overdue, compliance. Most recently replaced is the last changeouts at this hospital. Scan uses the same sticker. Browse units by building. Graphs and Docs are director-only. Nothing on this screen is a price.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server-side roles. Editing the browser cannot promote a floor tech to director. Hospital-tech has a shorter nav on purpose — Units, Scan, Guide. Directors get Graphs and Docs. AFC techs are a different login entirely.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tiles: AHU status donut, buildings stacked by compliant / due / overdue, completed vs scheduled services, filter-type quantities. Export graphs PDF for a meeting. This hospital only. Not a Joint Commission record — say that out loud if IS or Quality is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for hospital IT and for AFC sales. Read-only, hospital-scoped, no PHI. Username + PIN, 12-hour session. Technical packet PDF is what IS usually files. Phone 323.832.8316 if they want the packet walked.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talking. Offer a live scan on a phone if you have a sticker in the room. If they ask for IT detail, go to Docs → Download PDF. If they ask about SSO/MFA, be honest: not offered yet; call it a known gap from the packet.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ark-white.png"/>
          <p:cNvPicPr>
            <a:picLocks noChangeAspect="1"/>
          </p:cNvPicPr>
          <p:nvPr/>
        </p:nvPicPr>
        <p:blipFill>
          <a:blip r:embed="rId2"/>
          <a:stretch>
            <a:fillRect/>
          </a:stretch>
        </p:blipFill>
        <p:spPr>
          <a:xfrm>
            <a:off x="640080" y="1051560"/>
            <a:ext cx="1965960" cy="960120"/>
          </a:xfrm>
          <a:prstGeom prst="rect">
            <a:avLst/>
          </a:prstGeom>
        </p:spPr>
      </p:pic>
      <p:sp>
        <p:nvSpPr>
          <p:cNvPr id="5" name="TextBox 4"/>
          <p:cNvSpPr txBox="1"/>
          <p:nvPr/>
        </p:nvSpPr>
        <p:spPr>
          <a:xfrm>
            <a:off x="640080" y="2148840"/>
            <a:ext cx="10515600" cy="365760"/>
          </a:xfrm>
          <a:prstGeom prst="rect">
            <a:avLst/>
          </a:prstGeom>
          <a:noFill/>
        </p:spPr>
        <p:txBody>
          <a:bodyPr wrap="square">
            <a:spAutoFit/>
          </a:bodyPr>
          <a:lstStyle/>
          <a:p>
            <a:pPr algn="l">
              <a:spcBef>
                <a:spcPts val="0"/>
              </a:spcBef>
              <a:spcAft>
                <a:spcPts val="0"/>
              </a:spcAft>
            </a:pPr>
            <a:r>
              <a:rPr sz="1400" b="1">
                <a:solidFill>
                  <a:srgbClr val="BFDBFE"/>
                </a:solidFill>
                <a:latin typeface="Calibri"/>
              </a:rPr>
              <a:t>ADVANCED FILTRATION CONCEPTS</a:t>
            </a:r>
          </a:p>
        </p:txBody>
      </p:sp>
      <p:sp>
        <p:nvSpPr>
          <p:cNvPr id="6" name="TextBox 5"/>
          <p:cNvSpPr txBox="1"/>
          <p:nvPr/>
        </p:nvSpPr>
        <p:spPr>
          <a:xfrm>
            <a:off x="640080" y="2514600"/>
            <a:ext cx="10972800" cy="1463040"/>
          </a:xfrm>
          <a:prstGeom prst="rect">
            <a:avLst/>
          </a:prstGeom>
          <a:noFill/>
        </p:spPr>
        <p:txBody>
          <a:bodyPr wrap="square">
            <a:spAutoFit/>
          </a:bodyPr>
          <a:lstStyle/>
          <a:p>
            <a:pPr algn="l">
              <a:spcBef>
                <a:spcPts val="0"/>
              </a:spcBef>
              <a:spcAft>
                <a:spcPts val="800"/>
              </a:spcAft>
            </a:pPr>
            <a:r>
              <a:rPr sz="4400" b="1">
                <a:solidFill>
                  <a:srgbClr val="FFFFFF"/>
                </a:solidFill>
                <a:latin typeface="Calibri"/>
              </a:rPr>
              <a:t>Filter service you can scan.</a:t>
            </a:r>
          </a:p>
          <a:p>
            <a:pPr algn="l">
              <a:spcBef>
                <a:spcPts val="0"/>
              </a:spcBef>
              <a:spcAft>
                <a:spcPts val="0"/>
              </a:spcAft>
            </a:pPr>
            <a:r>
              <a:rPr sz="2000" b="0">
                <a:solidFill>
                  <a:srgbClr val="DBEAFE"/>
                </a:solidFill>
                <a:latin typeface="Calibri"/>
              </a:rPr>
              <a:t>A ten-minute look at AFC Field and the AFC Hospital Portal.</a:t>
            </a:r>
          </a:p>
        </p:txBody>
      </p:sp>
      <p:sp>
        <p:nvSpPr>
          <p:cNvPr id="7" name="Rectangle 6"/>
          <p:cNvSpPr/>
          <p:nvPr/>
        </p:nvSpPr>
        <p:spPr>
          <a:xfrm>
            <a:off x="640080" y="4709160"/>
            <a:ext cx="3383280" cy="73152"/>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937760"/>
            <a:ext cx="10058400" cy="822960"/>
          </a:xfrm>
          <a:prstGeom prst="rect">
            <a:avLst/>
          </a:prstGeom>
          <a:noFill/>
        </p:spPr>
        <p:txBody>
          <a:bodyPr wrap="square">
            <a:spAutoFit/>
          </a:bodyPr>
          <a:lstStyle/>
          <a:p>
            <a:pPr algn="l">
              <a:spcBef>
                <a:spcPts val="0"/>
              </a:spcBef>
              <a:spcAft>
                <a:spcPts val="400"/>
              </a:spcAft>
            </a:pPr>
            <a:r>
              <a:rPr sz="1600" b="0">
                <a:solidFill>
                  <a:srgbClr val="FFFFFF"/>
                </a:solidFill>
                <a:latin typeface="Calibri"/>
              </a:rPr>
              <a:t>AFC Field   ·   technicians record the work</a:t>
            </a:r>
          </a:p>
          <a:p>
            <a:pPr algn="l">
              <a:spcBef>
                <a:spcPts val="0"/>
              </a:spcBef>
              <a:spcAft>
                <a:spcPts val="0"/>
              </a:spcAft>
            </a:pPr>
            <a:r>
              <a:rPr sz="1600" b="0">
                <a:solidFill>
                  <a:srgbClr val="FFFFFF"/>
                </a:solidFill>
                <a:latin typeface="Calibri"/>
              </a:rPr>
              <a:t>AFC Hospital Portal   ·   the hospital sees status, not the shop</a:t>
            </a:r>
          </a:p>
        </p:txBody>
      </p:sp>
      <p:sp>
        <p:nvSpPr>
          <p:cNvPr id="9" name="TextBox 8"/>
          <p:cNvSpPr txBox="1"/>
          <p:nvPr/>
        </p:nvSpPr>
        <p:spPr>
          <a:xfrm>
            <a:off x="640080" y="6126480"/>
            <a:ext cx="10058400" cy="320040"/>
          </a:xfrm>
          <a:prstGeom prst="rect">
            <a:avLst/>
          </a:prstGeom>
          <a:noFill/>
        </p:spPr>
        <p:txBody>
          <a:bodyPr wrap="square">
            <a:spAutoFit/>
          </a:bodyPr>
          <a:lstStyle/>
          <a:p>
            <a:pPr algn="l">
              <a:spcBef>
                <a:spcPts val="0"/>
              </a:spcBef>
              <a:spcAft>
                <a:spcPts val="0"/>
              </a:spcAft>
            </a:pPr>
            <a:r>
              <a:rPr sz="1400" b="0">
                <a:solidFill>
                  <a:srgbClr val="BFDBFE"/>
                </a:solidFill>
                <a:latin typeface="Calibri"/>
              </a:rPr>
              <a:t>323.832.8316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326880" cy="502920"/>
          </a:xfrm>
          <a:prstGeom prst="rect">
            <a:avLst/>
          </a:prstGeom>
          <a:noFill/>
        </p:spPr>
        <p:txBody>
          <a:bodyPr wrap="square">
            <a:spAutoFit/>
          </a:bodyPr>
          <a:lstStyle/>
          <a:p>
            <a:pPr algn="l">
              <a:spcBef>
                <a:spcPts val="0"/>
              </a:spcBef>
              <a:spcAft>
                <a:spcPts val="0"/>
              </a:spcAft>
            </a:pPr>
            <a:r>
              <a:rPr sz="2600" b="1">
                <a:solidFill>
                  <a:srgbClr val="FFFFFF"/>
                </a:solidFill>
                <a:latin typeface="Calibri"/>
              </a:rPr>
              <a:t>Why this exists</a:t>
            </a:r>
          </a:p>
        </p:txBody>
      </p:sp>
      <p:sp>
        <p:nvSpPr>
          <p:cNvPr id="5" name="TextBox 4"/>
          <p:cNvSpPr txBox="1"/>
          <p:nvPr/>
        </p:nvSpPr>
        <p:spPr>
          <a:xfrm>
            <a:off x="10241280" y="256032"/>
            <a:ext cx="1463040" cy="365760"/>
          </a:xfrm>
          <a:prstGeom prst="rect">
            <a:avLst/>
          </a:prstGeom>
          <a:noFill/>
        </p:spPr>
        <p:txBody>
          <a:bodyPr wrap="square">
            <a:spAutoFit/>
          </a:bodyPr>
          <a:lstStyle/>
          <a:p>
            <a:pPr algn="r">
              <a:spcBef>
                <a:spcPts val="0"/>
              </a:spcBef>
              <a:spcAft>
                <a:spcPts val="0"/>
              </a:spcAft>
            </a:pPr>
            <a:r>
              <a:rPr sz="1200" b="0">
                <a:solidFill>
                  <a:srgbClr val="FFFFFF"/>
                </a:solidFill>
                <a:latin typeface="Calibri"/>
              </a:rPr>
              <a:t>2  /  10</a:t>
            </a:r>
          </a:p>
        </p:txBody>
      </p:sp>
      <p:sp>
        <p:nvSpPr>
          <p:cNvPr id="6" name="Rectangle 5"/>
          <p:cNvSpPr/>
          <p:nvPr/>
        </p:nvSpPr>
        <p:spPr>
          <a:xfrm>
            <a:off x="0" y="6565392"/>
            <a:ext cx="12191695" cy="29260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83680"/>
            <a:ext cx="11155680" cy="256032"/>
          </a:xfrm>
          <a:prstGeom prst="rect">
            <a:avLst/>
          </a:prstGeom>
          <a:noFill/>
        </p:spPr>
        <p:txBody>
          <a:bodyPr wrap="square">
            <a:spAutoFit/>
          </a:bodyPr>
          <a:lstStyle/>
          <a:p>
            <a:pPr algn="l">
              <a:spcBef>
                <a:spcPts val="0"/>
              </a:spcBef>
              <a:spcAft>
                <a:spcPts val="0"/>
              </a:spcAft>
            </a:pPr>
            <a:r>
              <a:rPr sz="1000" b="0">
                <a:solidFill>
                  <a:srgbClr val="FFFFFF"/>
                </a:solidFill>
                <a:latin typeface="Calibri"/>
              </a:rPr>
              <a:t>Advanced Filtration Concepts   ·   323.832.8316   ·   Confidential — for AFC presentations</a:t>
            </a:r>
          </a:p>
        </p:txBody>
      </p:sp>
      <p:sp>
        <p:nvSpPr>
          <p:cNvPr id="8" name="Rounded Rectangle 7"/>
          <p:cNvSpPr/>
          <p:nvPr/>
        </p:nvSpPr>
        <p:spPr>
          <a:xfrm>
            <a:off x="502920" y="1143000"/>
            <a:ext cx="11155680" cy="1444752"/>
          </a:xfrm>
          <a:prstGeom prst="roundRect">
            <a:avLst>
              <a:gd name="adj" fmla="val 8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143000"/>
            <a:ext cx="128016" cy="1444752"/>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399032"/>
            <a:ext cx="10424160" cy="1005840"/>
          </a:xfrm>
          <a:prstGeom prst="rect">
            <a:avLst/>
          </a:prstGeom>
          <a:noFill/>
        </p:spPr>
        <p:txBody>
          <a:bodyPr wrap="square">
            <a:spAutoFit/>
          </a:bodyPr>
          <a:lstStyle/>
          <a:p>
            <a:pPr algn="l">
              <a:spcBef>
                <a:spcPts val="0"/>
              </a:spcBef>
              <a:spcAft>
                <a:spcPts val="600"/>
              </a:spcAft>
            </a:pPr>
            <a:r>
              <a:rPr sz="2200" b="1">
                <a:solidFill>
                  <a:srgbClr val="0A4D8C"/>
                </a:solidFill>
                <a:latin typeface="Calibri"/>
              </a:rPr>
              <a:t>On the unit</a:t>
            </a:r>
          </a:p>
          <a:p>
            <a:pPr algn="l">
              <a:spcBef>
                <a:spcPts val="0"/>
              </a:spcBef>
              <a:spcAft>
                <a:spcPts val="0"/>
              </a:spcAft>
            </a:pPr>
            <a:r>
              <a:rPr sz="1600" b="0">
                <a:solidFill>
                  <a:srgbClr val="0F172A"/>
                </a:solidFill>
                <a:latin typeface="Calibri"/>
              </a:rPr>
              <a:t>What filters are in it, how many, what size, and when they are due.</a:t>
            </a:r>
          </a:p>
        </p:txBody>
      </p:sp>
      <p:sp>
        <p:nvSpPr>
          <p:cNvPr id="11" name="Rounded Rectangle 10"/>
          <p:cNvSpPr/>
          <p:nvPr/>
        </p:nvSpPr>
        <p:spPr>
          <a:xfrm>
            <a:off x="502920" y="2743200"/>
            <a:ext cx="11155680" cy="1444752"/>
          </a:xfrm>
          <a:prstGeom prst="roundRect">
            <a:avLst>
              <a:gd name="adj" fmla="val 8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743200"/>
            <a:ext cx="128016" cy="1444752"/>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99232"/>
            <a:ext cx="10424160" cy="1005840"/>
          </a:xfrm>
          <a:prstGeom prst="rect">
            <a:avLst/>
          </a:prstGeom>
          <a:noFill/>
        </p:spPr>
        <p:txBody>
          <a:bodyPr wrap="square">
            <a:spAutoFit/>
          </a:bodyPr>
          <a:lstStyle/>
          <a:p>
            <a:pPr algn="l">
              <a:spcBef>
                <a:spcPts val="0"/>
              </a:spcBef>
              <a:spcAft>
                <a:spcPts val="600"/>
              </a:spcAft>
            </a:pPr>
            <a:r>
              <a:rPr sz="2200" b="1">
                <a:solidFill>
                  <a:srgbClr val="0A4D8C"/>
                </a:solidFill>
                <a:latin typeface="Calibri"/>
              </a:rPr>
              <a:t>In the field</a:t>
            </a:r>
          </a:p>
          <a:p>
            <a:pPr algn="l">
              <a:spcBef>
                <a:spcPts val="0"/>
              </a:spcBef>
              <a:spcAft>
                <a:spcPts val="0"/>
              </a:spcAft>
            </a:pPr>
            <a:r>
              <a:rPr sz="1600" b="0">
                <a:solidFill>
                  <a:srgbClr val="0F172A"/>
                </a:solidFill>
                <a:latin typeface="Calibri"/>
              </a:rPr>
              <a:t>A tech should scan a sticker, do the changeout, and leave a record — even if the phone had to close.</a:t>
            </a:r>
          </a:p>
        </p:txBody>
      </p:sp>
      <p:sp>
        <p:nvSpPr>
          <p:cNvPr id="14" name="Rounded Rectangle 13"/>
          <p:cNvSpPr/>
          <p:nvPr/>
        </p:nvSpPr>
        <p:spPr>
          <a:xfrm>
            <a:off x="502920" y="4343400"/>
            <a:ext cx="11155680" cy="1444752"/>
          </a:xfrm>
          <a:prstGeom prst="roundRect">
            <a:avLst>
              <a:gd name="adj" fmla="val 8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4343400"/>
            <a:ext cx="128016" cy="1444752"/>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599432"/>
            <a:ext cx="10424160" cy="1005840"/>
          </a:xfrm>
          <a:prstGeom prst="rect">
            <a:avLst/>
          </a:prstGeom>
          <a:noFill/>
        </p:spPr>
        <p:txBody>
          <a:bodyPr wrap="square">
            <a:spAutoFit/>
          </a:bodyPr>
          <a:lstStyle/>
          <a:p>
            <a:pPr algn="l">
              <a:spcBef>
                <a:spcPts val="0"/>
              </a:spcBef>
              <a:spcAft>
                <a:spcPts val="600"/>
              </a:spcAft>
            </a:pPr>
            <a:r>
              <a:rPr sz="2200" b="1">
                <a:solidFill>
                  <a:srgbClr val="0A4D8C"/>
                </a:solidFill>
                <a:latin typeface="Calibri"/>
              </a:rPr>
              <a:t>In the office</a:t>
            </a:r>
          </a:p>
          <a:p>
            <a:pPr algn="l">
              <a:spcBef>
                <a:spcPts val="0"/>
              </a:spcBef>
              <a:spcAft>
                <a:spcPts val="0"/>
              </a:spcAft>
            </a:pPr>
            <a:r>
              <a:rPr sz="1600" b="0">
                <a:solidFill>
                  <a:srgbClr val="0F172A"/>
                </a:solidFill>
                <a:latin typeface="Calibri"/>
              </a:rPr>
              <a:t>A director should see on-schedule / due / overdue for their hospital, without calling AFC for a spreadsheet.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326880" cy="502920"/>
          </a:xfrm>
          <a:prstGeom prst="rect">
            <a:avLst/>
          </a:prstGeom>
          <a:noFill/>
        </p:spPr>
        <p:txBody>
          <a:bodyPr wrap="square">
            <a:spAutoFit/>
          </a:bodyPr>
          <a:lstStyle/>
          <a:p>
            <a:pPr algn="l">
              <a:spcBef>
                <a:spcPts val="0"/>
              </a:spcBef>
              <a:spcAft>
                <a:spcPts val="0"/>
              </a:spcAft>
            </a:pPr>
            <a:r>
              <a:rPr sz="2600" b="1">
                <a:solidFill>
                  <a:srgbClr val="FFFFFF"/>
                </a:solidFill>
                <a:latin typeface="Calibri"/>
              </a:rPr>
              <a:t>Two apps. One survey.</a:t>
            </a:r>
          </a:p>
        </p:txBody>
      </p:sp>
      <p:sp>
        <p:nvSpPr>
          <p:cNvPr id="5" name="TextBox 4"/>
          <p:cNvSpPr txBox="1"/>
          <p:nvPr/>
        </p:nvSpPr>
        <p:spPr>
          <a:xfrm>
            <a:off x="10241280" y="256032"/>
            <a:ext cx="1463040" cy="365760"/>
          </a:xfrm>
          <a:prstGeom prst="rect">
            <a:avLst/>
          </a:prstGeom>
          <a:noFill/>
        </p:spPr>
        <p:txBody>
          <a:bodyPr wrap="square">
            <a:spAutoFit/>
          </a:bodyPr>
          <a:lstStyle/>
          <a:p>
            <a:pPr algn="r">
              <a:spcBef>
                <a:spcPts val="0"/>
              </a:spcBef>
              <a:spcAft>
                <a:spcPts val="0"/>
              </a:spcAft>
            </a:pPr>
            <a:r>
              <a:rPr sz="1200" b="0">
                <a:solidFill>
                  <a:srgbClr val="FFFFFF"/>
                </a:solidFill>
                <a:latin typeface="Calibri"/>
              </a:rPr>
              <a:t>3  /  10</a:t>
            </a:r>
          </a:p>
        </p:txBody>
      </p:sp>
      <p:sp>
        <p:nvSpPr>
          <p:cNvPr id="6" name="Rectangle 5"/>
          <p:cNvSpPr/>
          <p:nvPr/>
        </p:nvSpPr>
        <p:spPr>
          <a:xfrm>
            <a:off x="0" y="6565392"/>
            <a:ext cx="12191695" cy="29260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83680"/>
            <a:ext cx="11155680" cy="256032"/>
          </a:xfrm>
          <a:prstGeom prst="rect">
            <a:avLst/>
          </a:prstGeom>
          <a:noFill/>
        </p:spPr>
        <p:txBody>
          <a:bodyPr wrap="square">
            <a:spAutoFit/>
          </a:bodyPr>
          <a:lstStyle/>
          <a:p>
            <a:pPr algn="l">
              <a:spcBef>
                <a:spcPts val="0"/>
              </a:spcBef>
              <a:spcAft>
                <a:spcPts val="0"/>
              </a:spcAft>
            </a:pPr>
            <a:r>
              <a:rPr sz="1000" b="0">
                <a:solidFill>
                  <a:srgbClr val="FFFFFF"/>
                </a:solidFill>
                <a:latin typeface="Calibri"/>
              </a:rPr>
              <a:t>Advanced Filtration Concepts   ·   323.832.8316   ·   Confidential — for AFC presentations</a:t>
            </a:r>
          </a:p>
        </p:txBody>
      </p:sp>
      <p:sp>
        <p:nvSpPr>
          <p:cNvPr id="8" name="Rounded Rectangle 7"/>
          <p:cNvSpPr/>
          <p:nvPr/>
        </p:nvSpPr>
        <p:spPr>
          <a:xfrm>
            <a:off x="457200" y="1097280"/>
            <a:ext cx="5532120" cy="521208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80160"/>
            <a:ext cx="5074920" cy="1005840"/>
          </a:xfrm>
          <a:prstGeom prst="rect">
            <a:avLst/>
          </a:prstGeom>
          <a:noFill/>
        </p:spPr>
        <p:txBody>
          <a:bodyPr wrap="square">
            <a:spAutoFit/>
          </a:bodyPr>
          <a:lstStyle/>
          <a:p>
            <a:pPr algn="l">
              <a:spcBef>
                <a:spcPts val="0"/>
              </a:spcBef>
              <a:spcAft>
                <a:spcPts val="200"/>
              </a:spcAft>
            </a:pPr>
            <a:r>
              <a:rPr sz="2200" b="1">
                <a:solidFill>
                  <a:srgbClr val="0A4D8C"/>
                </a:solidFill>
                <a:latin typeface="Calibri"/>
              </a:rPr>
              <a:t>AFC Field</a:t>
            </a:r>
          </a:p>
          <a:p>
            <a:pPr algn="l">
              <a:spcBef>
                <a:spcPts val="0"/>
              </a:spcBef>
              <a:spcAft>
                <a:spcPts val="0"/>
              </a:spcAft>
            </a:pPr>
            <a:r>
              <a:rPr sz="1300" b="0">
                <a:solidFill>
                  <a:srgbClr val="64748B"/>
                </a:solidFill>
                <a:latin typeface="Calibri"/>
              </a:rPr>
              <a:t>For AFC technicians</a:t>
            </a:r>
          </a:p>
        </p:txBody>
      </p:sp>
      <p:pic>
        <p:nvPicPr>
          <p:cNvPr id="10" name="Picture 9" descr="login_afc_field.png"/>
          <p:cNvPicPr>
            <a:picLocks noChangeAspect="1"/>
          </p:cNvPicPr>
          <p:nvPr/>
        </p:nvPicPr>
        <p:blipFill>
          <a:blip r:embed="rId2"/>
          <a:stretch>
            <a:fillRect/>
          </a:stretch>
        </p:blipFill>
        <p:spPr>
          <a:xfrm>
            <a:off x="2503170" y="2286000"/>
            <a:ext cx="1440180" cy="2880360"/>
          </a:xfrm>
          <a:prstGeom prst="rect">
            <a:avLst/>
          </a:prstGeom>
        </p:spPr>
      </p:pic>
      <p:sp>
        <p:nvSpPr>
          <p:cNvPr id="11" name="TextBox 10"/>
          <p:cNvSpPr txBox="1"/>
          <p:nvPr/>
        </p:nvSpPr>
        <p:spPr>
          <a:xfrm>
            <a:off x="685800" y="5257800"/>
            <a:ext cx="5074920" cy="822960"/>
          </a:xfrm>
          <a:prstGeom prst="rect">
            <a:avLst/>
          </a:prstGeom>
          <a:noFill/>
        </p:spPr>
        <p:txBody>
          <a:bodyPr wrap="square">
            <a:spAutoFit/>
          </a:bodyPr>
          <a:lstStyle/>
          <a:p>
            <a:pPr algn="l">
              <a:spcBef>
                <a:spcPts val="0"/>
              </a:spcBef>
              <a:spcAft>
                <a:spcPts val="0"/>
              </a:spcAft>
            </a:pPr>
            <a:r>
              <a:rPr sz="1300" b="0">
                <a:solidFill>
                  <a:srgbClr val="0F172A"/>
                </a:solidFill>
                <a:latin typeface="Calibri"/>
              </a:rPr>
              <a:t>Scan · complete jobs · offline hospital download</a:t>
            </a:r>
          </a:p>
        </p:txBody>
      </p:sp>
      <p:sp>
        <p:nvSpPr>
          <p:cNvPr id="12" name="Rounded Rectangle 11"/>
          <p:cNvSpPr/>
          <p:nvPr/>
        </p:nvSpPr>
        <p:spPr>
          <a:xfrm>
            <a:off x="6217920" y="1097280"/>
            <a:ext cx="5532120" cy="521208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280160"/>
            <a:ext cx="5074920" cy="1005840"/>
          </a:xfrm>
          <a:prstGeom prst="rect">
            <a:avLst/>
          </a:prstGeom>
          <a:noFill/>
        </p:spPr>
        <p:txBody>
          <a:bodyPr wrap="square">
            <a:spAutoFit/>
          </a:bodyPr>
          <a:lstStyle/>
          <a:p>
            <a:pPr algn="l">
              <a:spcBef>
                <a:spcPts val="0"/>
              </a:spcBef>
              <a:spcAft>
                <a:spcPts val="200"/>
              </a:spcAft>
            </a:pPr>
            <a:r>
              <a:rPr sz="2200" b="1">
                <a:solidFill>
                  <a:srgbClr val="0A4D8C"/>
                </a:solidFill>
                <a:latin typeface="Calibri"/>
              </a:rPr>
              <a:t>AFC Portal</a:t>
            </a:r>
          </a:p>
          <a:p>
            <a:pPr algn="l">
              <a:spcBef>
                <a:spcPts val="0"/>
              </a:spcBef>
              <a:spcAft>
                <a:spcPts val="0"/>
              </a:spcAft>
            </a:pPr>
            <a:r>
              <a:rPr sz="1300" b="0">
                <a:solidFill>
                  <a:srgbClr val="64748B"/>
                </a:solidFill>
                <a:latin typeface="Calibri"/>
              </a:rPr>
              <a:t>For the hospital</a:t>
            </a:r>
          </a:p>
        </p:txBody>
      </p:sp>
      <p:pic>
        <p:nvPicPr>
          <p:cNvPr id="14" name="Picture 13" descr="login_afc_portal.png"/>
          <p:cNvPicPr>
            <a:picLocks noChangeAspect="1"/>
          </p:cNvPicPr>
          <p:nvPr/>
        </p:nvPicPr>
        <p:blipFill>
          <a:blip r:embed="rId3"/>
          <a:stretch>
            <a:fillRect/>
          </a:stretch>
        </p:blipFill>
        <p:spPr>
          <a:xfrm>
            <a:off x="8263890" y="2286000"/>
            <a:ext cx="1440180" cy="2880360"/>
          </a:xfrm>
          <a:prstGeom prst="rect">
            <a:avLst/>
          </a:prstGeom>
        </p:spPr>
      </p:pic>
      <p:sp>
        <p:nvSpPr>
          <p:cNvPr id="15" name="TextBox 14"/>
          <p:cNvSpPr txBox="1"/>
          <p:nvPr/>
        </p:nvSpPr>
        <p:spPr>
          <a:xfrm>
            <a:off x="6446520" y="5257800"/>
            <a:ext cx="5074920" cy="822960"/>
          </a:xfrm>
          <a:prstGeom prst="rect">
            <a:avLst/>
          </a:prstGeom>
          <a:noFill/>
        </p:spPr>
        <p:txBody>
          <a:bodyPr wrap="square">
            <a:spAutoFit/>
          </a:bodyPr>
          <a:lstStyle/>
          <a:p>
            <a:pPr algn="l">
              <a:spcBef>
                <a:spcPts val="0"/>
              </a:spcBef>
              <a:spcAft>
                <a:spcPts val="0"/>
              </a:spcAft>
            </a:pPr>
            <a:r>
              <a:rPr sz="1300" b="0">
                <a:solidFill>
                  <a:srgbClr val="0F172A"/>
                </a:solidFill>
                <a:latin typeface="Calibri"/>
              </a:rPr>
              <a:t>Read-only status · same QR sticker · no prices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326880" cy="502920"/>
          </a:xfrm>
          <a:prstGeom prst="rect">
            <a:avLst/>
          </a:prstGeom>
          <a:noFill/>
        </p:spPr>
        <p:txBody>
          <a:bodyPr wrap="square">
            <a:spAutoFit/>
          </a:bodyPr>
          <a:lstStyle/>
          <a:p>
            <a:pPr algn="l">
              <a:spcBef>
                <a:spcPts val="0"/>
              </a:spcBef>
              <a:spcAft>
                <a:spcPts val="0"/>
              </a:spcAft>
            </a:pPr>
            <a:r>
              <a:rPr sz="2600" b="1">
                <a:solidFill>
                  <a:srgbClr val="FFFFFF"/>
                </a:solidFill>
                <a:latin typeface="Calibri"/>
              </a:rPr>
              <a:t>AFC Field — the tech’s day</a:t>
            </a:r>
          </a:p>
        </p:txBody>
      </p:sp>
      <p:sp>
        <p:nvSpPr>
          <p:cNvPr id="5" name="TextBox 4"/>
          <p:cNvSpPr txBox="1"/>
          <p:nvPr/>
        </p:nvSpPr>
        <p:spPr>
          <a:xfrm>
            <a:off x="10241280" y="256032"/>
            <a:ext cx="1463040" cy="365760"/>
          </a:xfrm>
          <a:prstGeom prst="rect">
            <a:avLst/>
          </a:prstGeom>
          <a:noFill/>
        </p:spPr>
        <p:txBody>
          <a:bodyPr wrap="square">
            <a:spAutoFit/>
          </a:bodyPr>
          <a:lstStyle/>
          <a:p>
            <a:pPr algn="r">
              <a:spcBef>
                <a:spcPts val="0"/>
              </a:spcBef>
              <a:spcAft>
                <a:spcPts val="0"/>
              </a:spcAft>
            </a:pPr>
            <a:r>
              <a:rPr sz="1200" b="0">
                <a:solidFill>
                  <a:srgbClr val="FFFFFF"/>
                </a:solidFill>
                <a:latin typeface="Calibri"/>
              </a:rPr>
              <a:t>4  /  10</a:t>
            </a:r>
          </a:p>
        </p:txBody>
      </p:sp>
      <p:sp>
        <p:nvSpPr>
          <p:cNvPr id="6" name="Rectangle 5"/>
          <p:cNvSpPr/>
          <p:nvPr/>
        </p:nvSpPr>
        <p:spPr>
          <a:xfrm>
            <a:off x="0" y="6565392"/>
            <a:ext cx="12191695" cy="29260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83680"/>
            <a:ext cx="11155680" cy="256032"/>
          </a:xfrm>
          <a:prstGeom prst="rect">
            <a:avLst/>
          </a:prstGeom>
          <a:noFill/>
        </p:spPr>
        <p:txBody>
          <a:bodyPr wrap="square">
            <a:spAutoFit/>
          </a:bodyPr>
          <a:lstStyle/>
          <a:p>
            <a:pPr algn="l">
              <a:spcBef>
                <a:spcPts val="0"/>
              </a:spcBef>
              <a:spcAft>
                <a:spcPts val="0"/>
              </a:spcAft>
            </a:pPr>
            <a:r>
              <a:rPr sz="1000" b="0">
                <a:solidFill>
                  <a:srgbClr val="FFFFFF"/>
                </a:solidFill>
                <a:latin typeface="Calibri"/>
              </a:rPr>
              <a:t>Advanced Filtration Concepts   ·   323.832.8316   ·   Confidential — for AFC presentations</a:t>
            </a:r>
          </a:p>
        </p:txBody>
      </p:sp>
      <p:pic>
        <p:nvPicPr>
          <p:cNvPr id="8" name="Picture 7" descr="pwa_home_after_login.png"/>
          <p:cNvPicPr>
            <a:picLocks noChangeAspect="1"/>
          </p:cNvPicPr>
          <p:nvPr/>
        </p:nvPicPr>
        <p:blipFill>
          <a:blip r:embed="rId2"/>
          <a:stretch>
            <a:fillRect/>
          </a:stretch>
        </p:blipFill>
        <p:spPr>
          <a:xfrm>
            <a:off x="1598737" y="1051560"/>
            <a:ext cx="2471805" cy="5349240"/>
          </a:xfrm>
          <a:prstGeom prst="rect">
            <a:avLst/>
          </a:prstGeom>
        </p:spPr>
      </p:pic>
      <p:sp>
        <p:nvSpPr>
          <p:cNvPr id="9" name="TextBox 8"/>
          <p:cNvSpPr txBox="1"/>
          <p:nvPr/>
        </p:nvSpPr>
        <p:spPr>
          <a:xfrm>
            <a:off x="5532120" y="1280160"/>
            <a:ext cx="6126480" cy="4846320"/>
          </a:xfrm>
          <a:prstGeom prst="rect">
            <a:avLst/>
          </a:prstGeom>
          <a:noFill/>
        </p:spPr>
        <p:txBody>
          <a:bodyPr wrap="square">
            <a:spAutoFit/>
          </a:bodyPr>
          <a:lstStyle/>
          <a:p>
            <a:pPr algn="l">
              <a:spcBef>
                <a:spcPts val="0"/>
              </a:spcBef>
              <a:spcAft>
                <a:spcPts val="1400"/>
              </a:spcAft>
            </a:pPr>
            <a:r>
              <a:rPr sz="2200" b="1">
                <a:solidFill>
                  <a:srgbClr val="0A4D8C"/>
                </a:solidFill>
                <a:latin typeface="Calibri"/>
              </a:rPr>
              <a:t>Scan first. Manual is the fallback.</a:t>
            </a:r>
          </a:p>
          <a:p>
            <a:pPr algn="l">
              <a:spcBef>
                <a:spcPts val="0"/>
              </a:spcBef>
              <a:spcAft>
                <a:spcPts val="1200"/>
              </a:spcAft>
            </a:pPr>
            <a:r>
              <a:rPr sz="1600" b="0">
                <a:solidFill>
                  <a:srgbClr val="0F172A"/>
                </a:solidFill>
                <a:latin typeface="Calibri"/>
              </a:rPr>
              <a:t>▸  Scan the AHU sticker → filters, last service, next due.</a:t>
            </a:r>
          </a:p>
          <a:p>
            <a:pPr algn="l">
              <a:spcBef>
                <a:spcPts val="0"/>
              </a:spcBef>
              <a:spcAft>
                <a:spcPts val="1200"/>
              </a:spcAft>
            </a:pPr>
            <a:r>
              <a:rPr sz="1600" b="0">
                <a:solidFill>
                  <a:srgbClr val="0F172A"/>
                </a:solidFill>
                <a:latin typeface="Calibri"/>
              </a:rPr>
              <a:t>▸  Complete the changeout on the phone. Queue it if the roof has no signal.</a:t>
            </a:r>
          </a:p>
          <a:p>
            <a:pPr algn="l">
              <a:spcBef>
                <a:spcPts val="0"/>
              </a:spcBef>
              <a:spcAft>
                <a:spcPts val="1200"/>
              </a:spcAft>
            </a:pPr>
            <a:r>
              <a:rPr sz="1600" b="0">
                <a:solidFill>
                  <a:srgbClr val="0F172A"/>
                </a:solidFill>
                <a:latin typeface="Calibri"/>
              </a:rPr>
              <a:t>▸  Download a hospital before you go. Jobs sync when you are back online.</a:t>
            </a:r>
          </a:p>
          <a:p>
            <a:pPr algn="l">
              <a:spcBef>
                <a:spcPts val="0"/>
              </a:spcBef>
              <a:spcAft>
                <a:spcPts val="1200"/>
              </a:spcAft>
            </a:pPr>
            <a:r>
              <a:rPr sz="1600" b="0">
                <a:solidFill>
                  <a:srgbClr val="0F172A"/>
                </a:solidFill>
                <a:latin typeface="Calibri"/>
              </a:rPr>
              <a:t>▸  Close the app and come back — you stay signed in while the session is valid.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326880" cy="502920"/>
          </a:xfrm>
          <a:prstGeom prst="rect">
            <a:avLst/>
          </a:prstGeom>
          <a:noFill/>
        </p:spPr>
        <p:txBody>
          <a:bodyPr wrap="square">
            <a:spAutoFit/>
          </a:bodyPr>
          <a:lstStyle/>
          <a:p>
            <a:pPr algn="l">
              <a:spcBef>
                <a:spcPts val="0"/>
              </a:spcBef>
              <a:spcAft>
                <a:spcPts val="0"/>
              </a:spcAft>
            </a:pPr>
            <a:r>
              <a:rPr sz="2600" b="1">
                <a:solidFill>
                  <a:srgbClr val="FFFFFF"/>
                </a:solidFill>
                <a:latin typeface="Calibri"/>
              </a:rPr>
              <a:t>Every unit gets a 4×2 sticker</a:t>
            </a:r>
          </a:p>
        </p:txBody>
      </p:sp>
      <p:sp>
        <p:nvSpPr>
          <p:cNvPr id="5" name="TextBox 4"/>
          <p:cNvSpPr txBox="1"/>
          <p:nvPr/>
        </p:nvSpPr>
        <p:spPr>
          <a:xfrm>
            <a:off x="10241280" y="256032"/>
            <a:ext cx="1463040" cy="365760"/>
          </a:xfrm>
          <a:prstGeom prst="rect">
            <a:avLst/>
          </a:prstGeom>
          <a:noFill/>
        </p:spPr>
        <p:txBody>
          <a:bodyPr wrap="square">
            <a:spAutoFit/>
          </a:bodyPr>
          <a:lstStyle/>
          <a:p>
            <a:pPr algn="r">
              <a:spcBef>
                <a:spcPts val="0"/>
              </a:spcBef>
              <a:spcAft>
                <a:spcPts val="0"/>
              </a:spcAft>
            </a:pPr>
            <a:r>
              <a:rPr sz="1200" b="0">
                <a:solidFill>
                  <a:srgbClr val="FFFFFF"/>
                </a:solidFill>
                <a:latin typeface="Calibri"/>
              </a:rPr>
              <a:t>5  /  10</a:t>
            </a:r>
          </a:p>
        </p:txBody>
      </p:sp>
      <p:sp>
        <p:nvSpPr>
          <p:cNvPr id="6" name="Rectangle 5"/>
          <p:cNvSpPr/>
          <p:nvPr/>
        </p:nvSpPr>
        <p:spPr>
          <a:xfrm>
            <a:off x="0" y="6565392"/>
            <a:ext cx="12191695" cy="29260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83680"/>
            <a:ext cx="11155680" cy="256032"/>
          </a:xfrm>
          <a:prstGeom prst="rect">
            <a:avLst/>
          </a:prstGeom>
          <a:noFill/>
        </p:spPr>
        <p:txBody>
          <a:bodyPr wrap="square">
            <a:spAutoFit/>
          </a:bodyPr>
          <a:lstStyle/>
          <a:p>
            <a:pPr algn="l">
              <a:spcBef>
                <a:spcPts val="0"/>
              </a:spcBef>
              <a:spcAft>
                <a:spcPts val="0"/>
              </a:spcAft>
            </a:pPr>
            <a:r>
              <a:rPr sz="1000" b="0">
                <a:solidFill>
                  <a:srgbClr val="FFFFFF"/>
                </a:solidFill>
                <a:latin typeface="Calibri"/>
              </a:rPr>
              <a:t>Advanced Filtration Concepts   ·   323.832.8316   ·   Confidential — for AFC presentations</a:t>
            </a:r>
          </a:p>
        </p:txBody>
      </p:sp>
      <p:pic>
        <p:nvPicPr>
          <p:cNvPr id="8" name="Picture 7" descr="sticker_ahu_building.png"/>
          <p:cNvPicPr>
            <a:picLocks noChangeAspect="1"/>
          </p:cNvPicPr>
          <p:nvPr/>
        </p:nvPicPr>
        <p:blipFill>
          <a:blip r:embed="rId2"/>
          <a:stretch>
            <a:fillRect/>
          </a:stretch>
        </p:blipFill>
        <p:spPr>
          <a:xfrm>
            <a:off x="1920240" y="1325880"/>
            <a:ext cx="8321040" cy="4160520"/>
          </a:xfrm>
          <a:prstGeom prst="rect">
            <a:avLst/>
          </a:prstGeom>
        </p:spPr>
      </p:pic>
      <p:sp>
        <p:nvSpPr>
          <p:cNvPr id="9" name="TextBox 8"/>
          <p:cNvSpPr txBox="1"/>
          <p:nvPr/>
        </p:nvSpPr>
        <p:spPr>
          <a:xfrm>
            <a:off x="502920" y="5623560"/>
            <a:ext cx="11155680" cy="777240"/>
          </a:xfrm>
          <a:prstGeom prst="rect">
            <a:avLst/>
          </a:prstGeom>
          <a:noFill/>
        </p:spPr>
        <p:txBody>
          <a:bodyPr wrap="square">
            <a:spAutoFit/>
          </a:bodyPr>
          <a:lstStyle/>
          <a:p>
            <a:pPr algn="l">
              <a:spcBef>
                <a:spcPts val="0"/>
              </a:spcBef>
              <a:spcAft>
                <a:spcPts val="0"/>
              </a:spcAft>
            </a:pPr>
            <a:r>
              <a:rPr sz="1600" b="0">
                <a:solidFill>
                  <a:srgbClr val="0F172A"/>
                </a:solidFill>
                <a:latin typeface="Calibri"/>
              </a:rPr>
              <a:t>Headline is the AHU and the building. Hospital name sits under it. AFC mark is in the QR. Same label for our techs and for hospital staff.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326880" cy="502920"/>
          </a:xfrm>
          <a:prstGeom prst="rect">
            <a:avLst/>
          </a:prstGeom>
          <a:noFill/>
        </p:spPr>
        <p:txBody>
          <a:bodyPr wrap="square">
            <a:spAutoFit/>
          </a:bodyPr>
          <a:lstStyle/>
          <a:p>
            <a:pPr algn="l">
              <a:spcBef>
                <a:spcPts val="0"/>
              </a:spcBef>
              <a:spcAft>
                <a:spcPts val="0"/>
              </a:spcAft>
            </a:pPr>
            <a:r>
              <a:rPr sz="2600" b="1">
                <a:solidFill>
                  <a:srgbClr val="FFFFFF"/>
                </a:solidFill>
                <a:latin typeface="Calibri"/>
              </a:rPr>
              <a:t>AFC Portal — the hospital’s view</a:t>
            </a:r>
          </a:p>
        </p:txBody>
      </p:sp>
      <p:sp>
        <p:nvSpPr>
          <p:cNvPr id="5" name="TextBox 4"/>
          <p:cNvSpPr txBox="1"/>
          <p:nvPr/>
        </p:nvSpPr>
        <p:spPr>
          <a:xfrm>
            <a:off x="10241280" y="256032"/>
            <a:ext cx="1463040" cy="365760"/>
          </a:xfrm>
          <a:prstGeom prst="rect">
            <a:avLst/>
          </a:prstGeom>
          <a:noFill/>
        </p:spPr>
        <p:txBody>
          <a:bodyPr wrap="square">
            <a:spAutoFit/>
          </a:bodyPr>
          <a:lstStyle/>
          <a:p>
            <a:pPr algn="r">
              <a:spcBef>
                <a:spcPts val="0"/>
              </a:spcBef>
              <a:spcAft>
                <a:spcPts val="0"/>
              </a:spcAft>
            </a:pPr>
            <a:r>
              <a:rPr sz="1200" b="0">
                <a:solidFill>
                  <a:srgbClr val="FFFFFF"/>
                </a:solidFill>
                <a:latin typeface="Calibri"/>
              </a:rPr>
              <a:t>6  /  10</a:t>
            </a:r>
          </a:p>
        </p:txBody>
      </p:sp>
      <p:sp>
        <p:nvSpPr>
          <p:cNvPr id="6" name="Rectangle 5"/>
          <p:cNvSpPr/>
          <p:nvPr/>
        </p:nvSpPr>
        <p:spPr>
          <a:xfrm>
            <a:off x="0" y="6565392"/>
            <a:ext cx="12191695" cy="29260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83680"/>
            <a:ext cx="11155680" cy="256032"/>
          </a:xfrm>
          <a:prstGeom prst="rect">
            <a:avLst/>
          </a:prstGeom>
          <a:noFill/>
        </p:spPr>
        <p:txBody>
          <a:bodyPr wrap="square">
            <a:spAutoFit/>
          </a:bodyPr>
          <a:lstStyle/>
          <a:p>
            <a:pPr algn="l">
              <a:spcBef>
                <a:spcPts val="0"/>
              </a:spcBef>
              <a:spcAft>
                <a:spcPts val="0"/>
              </a:spcAft>
            </a:pPr>
            <a:r>
              <a:rPr sz="1000" b="0">
                <a:solidFill>
                  <a:srgbClr val="FFFFFF"/>
                </a:solidFill>
                <a:latin typeface="Calibri"/>
              </a:rPr>
              <a:t>Advanced Filtration Concepts   ·   323.832.8316   ·   Confidential — for AFC presentations</a:t>
            </a:r>
          </a:p>
        </p:txBody>
      </p:sp>
      <p:pic>
        <p:nvPicPr>
          <p:cNvPr id="8" name="Picture 7" descr="portal_home_recent_changeouts.png"/>
          <p:cNvPicPr>
            <a:picLocks noChangeAspect="1"/>
          </p:cNvPicPr>
          <p:nvPr/>
        </p:nvPicPr>
        <p:blipFill>
          <a:blip r:embed="rId2"/>
          <a:stretch>
            <a:fillRect/>
          </a:stretch>
        </p:blipFill>
        <p:spPr>
          <a:xfrm>
            <a:off x="2578960" y="1024128"/>
            <a:ext cx="7003599" cy="53949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326880" cy="502920"/>
          </a:xfrm>
          <a:prstGeom prst="rect">
            <a:avLst/>
          </a:prstGeom>
          <a:noFill/>
        </p:spPr>
        <p:txBody>
          <a:bodyPr wrap="square">
            <a:spAutoFit/>
          </a:bodyPr>
          <a:lstStyle/>
          <a:p>
            <a:pPr algn="l">
              <a:spcBef>
                <a:spcPts val="0"/>
              </a:spcBef>
              <a:spcAft>
                <a:spcPts val="0"/>
              </a:spcAft>
            </a:pPr>
            <a:r>
              <a:rPr sz="2600" b="1">
                <a:solidFill>
                  <a:srgbClr val="FFFFFF"/>
                </a:solidFill>
                <a:latin typeface="Calibri"/>
              </a:rPr>
              <a:t>Who sees what</a:t>
            </a:r>
          </a:p>
        </p:txBody>
      </p:sp>
      <p:sp>
        <p:nvSpPr>
          <p:cNvPr id="5" name="TextBox 4"/>
          <p:cNvSpPr txBox="1"/>
          <p:nvPr/>
        </p:nvSpPr>
        <p:spPr>
          <a:xfrm>
            <a:off x="10241280" y="256032"/>
            <a:ext cx="1463040" cy="365760"/>
          </a:xfrm>
          <a:prstGeom prst="rect">
            <a:avLst/>
          </a:prstGeom>
          <a:noFill/>
        </p:spPr>
        <p:txBody>
          <a:bodyPr wrap="square">
            <a:spAutoFit/>
          </a:bodyPr>
          <a:lstStyle/>
          <a:p>
            <a:pPr algn="r">
              <a:spcBef>
                <a:spcPts val="0"/>
              </a:spcBef>
              <a:spcAft>
                <a:spcPts val="0"/>
              </a:spcAft>
            </a:pPr>
            <a:r>
              <a:rPr sz="1200" b="0">
                <a:solidFill>
                  <a:srgbClr val="FFFFFF"/>
                </a:solidFill>
                <a:latin typeface="Calibri"/>
              </a:rPr>
              <a:t>7  /  10</a:t>
            </a:r>
          </a:p>
        </p:txBody>
      </p:sp>
      <p:sp>
        <p:nvSpPr>
          <p:cNvPr id="6" name="Rectangle 5"/>
          <p:cNvSpPr/>
          <p:nvPr/>
        </p:nvSpPr>
        <p:spPr>
          <a:xfrm>
            <a:off x="0" y="6565392"/>
            <a:ext cx="12191695" cy="29260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83680"/>
            <a:ext cx="11155680" cy="256032"/>
          </a:xfrm>
          <a:prstGeom prst="rect">
            <a:avLst/>
          </a:prstGeom>
          <a:noFill/>
        </p:spPr>
        <p:txBody>
          <a:bodyPr wrap="square">
            <a:spAutoFit/>
          </a:bodyPr>
          <a:lstStyle/>
          <a:p>
            <a:pPr algn="l">
              <a:spcBef>
                <a:spcPts val="0"/>
              </a:spcBef>
              <a:spcAft>
                <a:spcPts val="0"/>
              </a:spcAft>
            </a:pPr>
            <a:r>
              <a:rPr sz="1000" b="0">
                <a:solidFill>
                  <a:srgbClr val="FFFFFF"/>
                </a:solidFill>
                <a:latin typeface="Calibri"/>
              </a:rPr>
              <a:t>Advanced Filtration Concepts   ·   323.832.8316   ·   Confidential — for AFC presentations</a:t>
            </a:r>
          </a:p>
        </p:txBody>
      </p:sp>
      <p:sp>
        <p:nvSpPr>
          <p:cNvPr id="8" name="Rounded Rectangle 7"/>
          <p:cNvSpPr/>
          <p:nvPr/>
        </p:nvSpPr>
        <p:spPr>
          <a:xfrm>
            <a:off x="411480" y="1143000"/>
            <a:ext cx="3703320" cy="516636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1143000"/>
            <a:ext cx="3703320" cy="777240"/>
          </a:xfrm>
          <a:prstGeom prst="roundRect">
            <a:avLst>
              <a:gd name="adj" fmla="val 6000"/>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80160"/>
            <a:ext cx="3337560" cy="548640"/>
          </a:xfrm>
          <a:prstGeom prst="rect">
            <a:avLst/>
          </a:prstGeom>
          <a:noFill/>
        </p:spPr>
        <p:txBody>
          <a:bodyPr wrap="square">
            <a:spAutoFit/>
          </a:bodyPr>
          <a:lstStyle/>
          <a:p>
            <a:pPr algn="l">
              <a:spcBef>
                <a:spcPts val="0"/>
              </a:spcBef>
              <a:spcAft>
                <a:spcPts val="0"/>
              </a:spcAft>
            </a:pPr>
            <a:r>
              <a:rPr sz="1800" b="1">
                <a:solidFill>
                  <a:srgbClr val="FFFFFF"/>
                </a:solidFill>
                <a:latin typeface="Calibri"/>
              </a:rPr>
              <a:t>AFC technician</a:t>
            </a:r>
          </a:p>
        </p:txBody>
      </p:sp>
      <p:sp>
        <p:nvSpPr>
          <p:cNvPr id="11" name="TextBox 10"/>
          <p:cNvSpPr txBox="1"/>
          <p:nvPr/>
        </p:nvSpPr>
        <p:spPr>
          <a:xfrm>
            <a:off x="667512" y="2148840"/>
            <a:ext cx="3200400" cy="3840480"/>
          </a:xfrm>
          <a:prstGeom prst="rect">
            <a:avLst/>
          </a:prstGeom>
          <a:noFill/>
        </p:spPr>
        <p:txBody>
          <a:bodyPr wrap="square">
            <a:spAutoFit/>
          </a:bodyPr>
          <a:lstStyle/>
          <a:p>
            <a:pPr algn="l">
              <a:spcBef>
                <a:spcPts val="0"/>
              </a:spcBef>
              <a:spcAft>
                <a:spcPts val="1400"/>
              </a:spcAft>
            </a:pPr>
            <a:r>
              <a:rPr sz="1500" b="0">
                <a:solidFill>
                  <a:srgbClr val="0F172A"/>
                </a:solidFill>
                <a:latin typeface="Calibri"/>
              </a:rPr>
              <a:t>▸  Scan and complete jobs</a:t>
            </a:r>
          </a:p>
          <a:p>
            <a:pPr algn="l">
              <a:spcBef>
                <a:spcPts val="0"/>
              </a:spcBef>
              <a:spcAft>
                <a:spcPts val="1400"/>
              </a:spcAft>
            </a:pPr>
            <a:r>
              <a:rPr sz="1500" b="0">
                <a:solidFill>
                  <a:srgbClr val="0F172A"/>
                </a:solidFill>
                <a:latin typeface="Calibri"/>
              </a:rPr>
              <a:t>▸  Part numbers and quantities</a:t>
            </a:r>
          </a:p>
          <a:p>
            <a:pPr algn="l">
              <a:spcBef>
                <a:spcPts val="0"/>
              </a:spcBef>
              <a:spcAft>
                <a:spcPts val="1400"/>
              </a:spcAft>
            </a:pPr>
            <a:r>
              <a:rPr sz="1500" b="0">
                <a:solidFill>
                  <a:srgbClr val="0F172A"/>
                </a:solidFill>
                <a:latin typeface="Calibri"/>
              </a:rPr>
              <a:t>▸  Offline hospital download</a:t>
            </a:r>
          </a:p>
          <a:p>
            <a:pPr algn="l">
              <a:spcBef>
                <a:spcPts val="0"/>
              </a:spcBef>
              <a:spcAft>
                <a:spcPts val="1400"/>
              </a:spcAft>
            </a:pPr>
            <a:r>
              <a:rPr sz="1500" b="0">
                <a:solidFill>
                  <a:srgbClr val="0F172A"/>
                </a:solidFill>
                <a:latin typeface="Calibri"/>
              </a:rPr>
              <a:t>▸  Admin tools if they are an admin</a:t>
            </a:r>
          </a:p>
        </p:txBody>
      </p:sp>
      <p:sp>
        <p:nvSpPr>
          <p:cNvPr id="12" name="Rounded Rectangle 11"/>
          <p:cNvSpPr/>
          <p:nvPr/>
        </p:nvSpPr>
        <p:spPr>
          <a:xfrm>
            <a:off x="4297680" y="1143000"/>
            <a:ext cx="3703320" cy="516636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97680" y="1143000"/>
            <a:ext cx="3703320" cy="777240"/>
          </a:xfrm>
          <a:prstGeom prst="roundRect">
            <a:avLst>
              <a:gd name="adj" fmla="val 6000"/>
            </a:avLst>
          </a:prstGeom>
          <a:solidFill>
            <a:srgbClr val="0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280160"/>
            <a:ext cx="3337560" cy="548640"/>
          </a:xfrm>
          <a:prstGeom prst="rect">
            <a:avLst/>
          </a:prstGeom>
          <a:noFill/>
        </p:spPr>
        <p:txBody>
          <a:bodyPr wrap="square">
            <a:spAutoFit/>
          </a:bodyPr>
          <a:lstStyle/>
          <a:p>
            <a:pPr algn="l">
              <a:spcBef>
                <a:spcPts val="0"/>
              </a:spcBef>
              <a:spcAft>
                <a:spcPts val="0"/>
              </a:spcAft>
            </a:pPr>
            <a:r>
              <a:rPr sz="1800" b="1">
                <a:solidFill>
                  <a:srgbClr val="FFFFFF"/>
                </a:solidFill>
                <a:latin typeface="Calibri"/>
              </a:rPr>
              <a:t>Hospital director</a:t>
            </a:r>
          </a:p>
        </p:txBody>
      </p:sp>
      <p:sp>
        <p:nvSpPr>
          <p:cNvPr id="15" name="TextBox 14"/>
          <p:cNvSpPr txBox="1"/>
          <p:nvPr/>
        </p:nvSpPr>
        <p:spPr>
          <a:xfrm>
            <a:off x="4553712" y="2148840"/>
            <a:ext cx="3200400" cy="3840480"/>
          </a:xfrm>
          <a:prstGeom prst="rect">
            <a:avLst/>
          </a:prstGeom>
          <a:noFill/>
        </p:spPr>
        <p:txBody>
          <a:bodyPr wrap="square">
            <a:spAutoFit/>
          </a:bodyPr>
          <a:lstStyle/>
          <a:p>
            <a:pPr algn="l">
              <a:spcBef>
                <a:spcPts val="0"/>
              </a:spcBef>
              <a:spcAft>
                <a:spcPts val="1400"/>
              </a:spcAft>
            </a:pPr>
            <a:r>
              <a:rPr sz="1500" b="0">
                <a:solidFill>
                  <a:srgbClr val="0F172A"/>
                </a:solidFill>
                <a:latin typeface="Calibri"/>
              </a:rPr>
              <a:t>▸  Home dashboard</a:t>
            </a:r>
          </a:p>
          <a:p>
            <a:pPr algn="l">
              <a:spcBef>
                <a:spcPts val="0"/>
              </a:spcBef>
              <a:spcAft>
                <a:spcPts val="1400"/>
              </a:spcAft>
            </a:pPr>
            <a:r>
              <a:rPr sz="1500" b="0">
                <a:solidFill>
                  <a:srgbClr val="0F172A"/>
                </a:solidFill>
                <a:latin typeface="Calibri"/>
              </a:rPr>
              <a:t>▸  All units + scan</a:t>
            </a:r>
          </a:p>
          <a:p>
            <a:pPr algn="l">
              <a:spcBef>
                <a:spcPts val="0"/>
              </a:spcBef>
              <a:spcAft>
                <a:spcPts val="1400"/>
              </a:spcAft>
            </a:pPr>
            <a:r>
              <a:rPr sz="1500" b="0">
                <a:solidFill>
                  <a:srgbClr val="0F172A"/>
                </a:solidFill>
                <a:latin typeface="Calibri"/>
              </a:rPr>
              <a:t>▸  Graphs and PDF export</a:t>
            </a:r>
          </a:p>
          <a:p>
            <a:pPr algn="l">
              <a:spcBef>
                <a:spcPts val="0"/>
              </a:spcBef>
              <a:spcAft>
                <a:spcPts val="1400"/>
              </a:spcAft>
            </a:pPr>
            <a:r>
              <a:rPr sz="1500" b="0">
                <a:solidFill>
                  <a:srgbClr val="0F172A"/>
                </a:solidFill>
                <a:latin typeface="Calibri"/>
              </a:rPr>
              <a:t>▸  IT packet + contact AFC</a:t>
            </a:r>
          </a:p>
        </p:txBody>
      </p:sp>
      <p:sp>
        <p:nvSpPr>
          <p:cNvPr id="16" name="Rounded Rectangle 15"/>
          <p:cNvSpPr/>
          <p:nvPr/>
        </p:nvSpPr>
        <p:spPr>
          <a:xfrm>
            <a:off x="8183879" y="1143000"/>
            <a:ext cx="3703320" cy="516636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3879" y="1143000"/>
            <a:ext cx="3703320" cy="777240"/>
          </a:xfrm>
          <a:prstGeom prst="roundRect">
            <a:avLst>
              <a:gd name="adj" fmla="val 6000"/>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59" y="1280160"/>
            <a:ext cx="3337560" cy="548640"/>
          </a:xfrm>
          <a:prstGeom prst="rect">
            <a:avLst/>
          </a:prstGeom>
          <a:noFill/>
        </p:spPr>
        <p:txBody>
          <a:bodyPr wrap="square">
            <a:spAutoFit/>
          </a:bodyPr>
          <a:lstStyle/>
          <a:p>
            <a:pPr algn="l">
              <a:spcBef>
                <a:spcPts val="0"/>
              </a:spcBef>
              <a:spcAft>
                <a:spcPts val="0"/>
              </a:spcAft>
            </a:pPr>
            <a:r>
              <a:rPr sz="1800" b="1">
                <a:solidFill>
                  <a:srgbClr val="FFFFFF"/>
                </a:solidFill>
                <a:latin typeface="Calibri"/>
              </a:rPr>
              <a:t>Hospital technician</a:t>
            </a:r>
          </a:p>
        </p:txBody>
      </p:sp>
      <p:sp>
        <p:nvSpPr>
          <p:cNvPr id="19" name="TextBox 18"/>
          <p:cNvSpPr txBox="1"/>
          <p:nvPr/>
        </p:nvSpPr>
        <p:spPr>
          <a:xfrm>
            <a:off x="8439911" y="2148840"/>
            <a:ext cx="3200400" cy="3840480"/>
          </a:xfrm>
          <a:prstGeom prst="rect">
            <a:avLst/>
          </a:prstGeom>
          <a:noFill/>
        </p:spPr>
        <p:txBody>
          <a:bodyPr wrap="square">
            <a:spAutoFit/>
          </a:bodyPr>
          <a:lstStyle/>
          <a:p>
            <a:pPr algn="l">
              <a:spcBef>
                <a:spcPts val="0"/>
              </a:spcBef>
              <a:spcAft>
                <a:spcPts val="1400"/>
              </a:spcAft>
            </a:pPr>
            <a:r>
              <a:rPr sz="1500" b="0">
                <a:solidFill>
                  <a:srgbClr val="0F172A"/>
                </a:solidFill>
                <a:latin typeface="Calibri"/>
              </a:rPr>
              <a:t>▸  Units and scan only</a:t>
            </a:r>
          </a:p>
          <a:p>
            <a:pPr algn="l">
              <a:spcBef>
                <a:spcPts val="0"/>
              </a:spcBef>
              <a:spcAft>
                <a:spcPts val="1400"/>
              </a:spcAft>
            </a:pPr>
            <a:r>
              <a:rPr sz="1500" b="0">
                <a:solidFill>
                  <a:srgbClr val="0F172A"/>
                </a:solidFill>
                <a:latin typeface="Calibri"/>
              </a:rPr>
              <a:t>▸  Read-only skip comments</a:t>
            </a:r>
          </a:p>
          <a:p>
            <a:pPr algn="l">
              <a:spcBef>
                <a:spcPts val="0"/>
              </a:spcBef>
              <a:spcAft>
                <a:spcPts val="1400"/>
              </a:spcAft>
            </a:pPr>
            <a:r>
              <a:rPr sz="1500" b="0">
                <a:solidFill>
                  <a:srgbClr val="0F172A"/>
                </a:solidFill>
                <a:latin typeface="Calibri"/>
              </a:rPr>
              <a:t>▸  How-to guide</a:t>
            </a:r>
          </a:p>
          <a:p>
            <a:pPr algn="l">
              <a:spcBef>
                <a:spcPts val="0"/>
              </a:spcBef>
              <a:spcAft>
                <a:spcPts val="1400"/>
              </a:spcAft>
            </a:pPr>
            <a:r>
              <a:rPr sz="1500" b="0">
                <a:solidFill>
                  <a:srgbClr val="0F172A"/>
                </a:solidFill>
                <a:latin typeface="Calibri"/>
              </a:rPr>
              <a:t>▸  No graphs, no packet, no contact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326880" cy="502920"/>
          </a:xfrm>
          <a:prstGeom prst="rect">
            <a:avLst/>
          </a:prstGeom>
          <a:noFill/>
        </p:spPr>
        <p:txBody>
          <a:bodyPr wrap="square">
            <a:spAutoFit/>
          </a:bodyPr>
          <a:lstStyle/>
          <a:p>
            <a:pPr algn="l">
              <a:spcBef>
                <a:spcPts val="0"/>
              </a:spcBef>
              <a:spcAft>
                <a:spcPts val="0"/>
              </a:spcAft>
            </a:pPr>
            <a:r>
              <a:rPr sz="2600" b="1">
                <a:solidFill>
                  <a:srgbClr val="FFFFFF"/>
                </a:solidFill>
                <a:latin typeface="Calibri"/>
              </a:rPr>
              <a:t>Directors get graphs. Counts, not dollars.</a:t>
            </a:r>
          </a:p>
        </p:txBody>
      </p:sp>
      <p:sp>
        <p:nvSpPr>
          <p:cNvPr id="5" name="TextBox 4"/>
          <p:cNvSpPr txBox="1"/>
          <p:nvPr/>
        </p:nvSpPr>
        <p:spPr>
          <a:xfrm>
            <a:off x="10241280" y="256032"/>
            <a:ext cx="1463040" cy="365760"/>
          </a:xfrm>
          <a:prstGeom prst="rect">
            <a:avLst/>
          </a:prstGeom>
          <a:noFill/>
        </p:spPr>
        <p:txBody>
          <a:bodyPr wrap="square">
            <a:spAutoFit/>
          </a:bodyPr>
          <a:lstStyle/>
          <a:p>
            <a:pPr algn="r">
              <a:spcBef>
                <a:spcPts val="0"/>
              </a:spcBef>
              <a:spcAft>
                <a:spcPts val="0"/>
              </a:spcAft>
            </a:pPr>
            <a:r>
              <a:rPr sz="1200" b="0">
                <a:solidFill>
                  <a:srgbClr val="FFFFFF"/>
                </a:solidFill>
                <a:latin typeface="Calibri"/>
              </a:rPr>
              <a:t>8  /  10</a:t>
            </a:r>
          </a:p>
        </p:txBody>
      </p:sp>
      <p:sp>
        <p:nvSpPr>
          <p:cNvPr id="6" name="Rectangle 5"/>
          <p:cNvSpPr/>
          <p:nvPr/>
        </p:nvSpPr>
        <p:spPr>
          <a:xfrm>
            <a:off x="0" y="6565392"/>
            <a:ext cx="12191695" cy="29260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83680"/>
            <a:ext cx="11155680" cy="256032"/>
          </a:xfrm>
          <a:prstGeom prst="rect">
            <a:avLst/>
          </a:prstGeom>
          <a:noFill/>
        </p:spPr>
        <p:txBody>
          <a:bodyPr wrap="square">
            <a:spAutoFit/>
          </a:bodyPr>
          <a:lstStyle/>
          <a:p>
            <a:pPr algn="l">
              <a:spcBef>
                <a:spcPts val="0"/>
              </a:spcBef>
              <a:spcAft>
                <a:spcPts val="0"/>
              </a:spcAft>
            </a:pPr>
            <a:r>
              <a:rPr sz="1000" b="0">
                <a:solidFill>
                  <a:srgbClr val="FFFFFF"/>
                </a:solidFill>
                <a:latin typeface="Calibri"/>
              </a:rPr>
              <a:t>Advanced Filtration Concepts   ·   323.832.8316   ·   Confidential — for AFC presentations</a:t>
            </a:r>
          </a:p>
        </p:txBody>
      </p:sp>
      <p:pic>
        <p:nvPicPr>
          <p:cNvPr id="8" name="Picture 7" descr="director_graphs_services_legend.png"/>
          <p:cNvPicPr>
            <a:picLocks noChangeAspect="1"/>
          </p:cNvPicPr>
          <p:nvPr/>
        </p:nvPicPr>
        <p:blipFill>
          <a:blip r:embed="rId2"/>
          <a:stretch>
            <a:fillRect/>
          </a:stretch>
        </p:blipFill>
        <p:spPr>
          <a:xfrm>
            <a:off x="1728216" y="1005840"/>
            <a:ext cx="8705088" cy="54406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326880" cy="502920"/>
          </a:xfrm>
          <a:prstGeom prst="rect">
            <a:avLst/>
          </a:prstGeom>
          <a:noFill/>
        </p:spPr>
        <p:txBody>
          <a:bodyPr wrap="square">
            <a:spAutoFit/>
          </a:bodyPr>
          <a:lstStyle/>
          <a:p>
            <a:pPr algn="l">
              <a:spcBef>
                <a:spcPts val="0"/>
              </a:spcBef>
              <a:spcAft>
                <a:spcPts val="0"/>
              </a:spcAft>
            </a:pPr>
            <a:r>
              <a:rPr sz="2600" b="1">
                <a:solidFill>
                  <a:srgbClr val="FFFFFF"/>
                </a:solidFill>
                <a:latin typeface="Calibri"/>
              </a:rPr>
              <a:t>What the hospital never sees</a:t>
            </a:r>
          </a:p>
        </p:txBody>
      </p:sp>
      <p:sp>
        <p:nvSpPr>
          <p:cNvPr id="5" name="TextBox 4"/>
          <p:cNvSpPr txBox="1"/>
          <p:nvPr/>
        </p:nvSpPr>
        <p:spPr>
          <a:xfrm>
            <a:off x="10241280" y="256032"/>
            <a:ext cx="1463040" cy="365760"/>
          </a:xfrm>
          <a:prstGeom prst="rect">
            <a:avLst/>
          </a:prstGeom>
          <a:noFill/>
        </p:spPr>
        <p:txBody>
          <a:bodyPr wrap="square">
            <a:spAutoFit/>
          </a:bodyPr>
          <a:lstStyle/>
          <a:p>
            <a:pPr algn="r">
              <a:spcBef>
                <a:spcPts val="0"/>
              </a:spcBef>
              <a:spcAft>
                <a:spcPts val="0"/>
              </a:spcAft>
            </a:pPr>
            <a:r>
              <a:rPr sz="1200" b="0">
                <a:solidFill>
                  <a:srgbClr val="FFFFFF"/>
                </a:solidFill>
                <a:latin typeface="Calibri"/>
              </a:rPr>
              <a:t>9  /  10</a:t>
            </a:r>
          </a:p>
        </p:txBody>
      </p:sp>
      <p:sp>
        <p:nvSpPr>
          <p:cNvPr id="6" name="Rectangle 5"/>
          <p:cNvSpPr/>
          <p:nvPr/>
        </p:nvSpPr>
        <p:spPr>
          <a:xfrm>
            <a:off x="0" y="6565392"/>
            <a:ext cx="12191695" cy="292608"/>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83680"/>
            <a:ext cx="11155680" cy="256032"/>
          </a:xfrm>
          <a:prstGeom prst="rect">
            <a:avLst/>
          </a:prstGeom>
          <a:noFill/>
        </p:spPr>
        <p:txBody>
          <a:bodyPr wrap="square">
            <a:spAutoFit/>
          </a:bodyPr>
          <a:lstStyle/>
          <a:p>
            <a:pPr algn="l">
              <a:spcBef>
                <a:spcPts val="0"/>
              </a:spcBef>
              <a:spcAft>
                <a:spcPts val="0"/>
              </a:spcAft>
            </a:pPr>
            <a:r>
              <a:rPr sz="1000" b="0">
                <a:solidFill>
                  <a:srgbClr val="FFFFFF"/>
                </a:solidFill>
                <a:latin typeface="Calibri"/>
              </a:rPr>
              <a:t>Advanced Filtration Concepts   ·   323.832.8316   ·   Confidential — for AFC presentations</a:t>
            </a:r>
          </a:p>
        </p:txBody>
      </p:sp>
      <p:sp>
        <p:nvSpPr>
          <p:cNvPr id="8" name="Rounded Rectangle 7"/>
          <p:cNvSpPr/>
          <p:nvPr/>
        </p:nvSpPr>
        <p:spPr>
          <a:xfrm>
            <a:off x="457200" y="1115568"/>
            <a:ext cx="5623560" cy="1554480"/>
          </a:xfrm>
          <a:prstGeom prst="roundRect">
            <a:avLst>
              <a:gd name="adj" fmla="val 8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115568"/>
            <a:ext cx="109728" cy="1554480"/>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371600"/>
            <a:ext cx="5029200" cy="1097280"/>
          </a:xfrm>
          <a:prstGeom prst="rect">
            <a:avLst/>
          </a:prstGeom>
          <a:noFill/>
        </p:spPr>
        <p:txBody>
          <a:bodyPr wrap="square">
            <a:spAutoFit/>
          </a:bodyPr>
          <a:lstStyle/>
          <a:p>
            <a:pPr algn="l">
              <a:spcBef>
                <a:spcPts val="0"/>
              </a:spcBef>
              <a:spcAft>
                <a:spcPts val="600"/>
              </a:spcAft>
            </a:pPr>
            <a:r>
              <a:rPr sz="1600" b="1">
                <a:solidFill>
                  <a:srgbClr val="0A4D8C"/>
                </a:solidFill>
                <a:latin typeface="Calibri"/>
              </a:rPr>
              <a:t>Prices, invoices, POs</a:t>
            </a:r>
          </a:p>
          <a:p>
            <a:pPr algn="l">
              <a:spcBef>
                <a:spcPts val="0"/>
              </a:spcBef>
              <a:spcAft>
                <a:spcPts val="0"/>
              </a:spcAft>
            </a:pPr>
            <a:r>
              <a:rPr sz="1300" b="0">
                <a:solidFill>
                  <a:srgbClr val="0F172A"/>
                </a:solidFill>
                <a:latin typeface="Calibri"/>
              </a:rPr>
              <a:t>The portal is status, not a catalog.</a:t>
            </a:r>
          </a:p>
        </p:txBody>
      </p:sp>
      <p:sp>
        <p:nvSpPr>
          <p:cNvPr id="11" name="Rounded Rectangle 10"/>
          <p:cNvSpPr/>
          <p:nvPr/>
        </p:nvSpPr>
        <p:spPr>
          <a:xfrm>
            <a:off x="6309360" y="1115568"/>
            <a:ext cx="5623560" cy="1554480"/>
          </a:xfrm>
          <a:prstGeom prst="roundRect">
            <a:avLst>
              <a:gd name="adj" fmla="val 8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115568"/>
            <a:ext cx="109728" cy="1554480"/>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371600"/>
            <a:ext cx="5029200" cy="1097280"/>
          </a:xfrm>
          <a:prstGeom prst="rect">
            <a:avLst/>
          </a:prstGeom>
          <a:noFill/>
        </p:spPr>
        <p:txBody>
          <a:bodyPr wrap="square">
            <a:spAutoFit/>
          </a:bodyPr>
          <a:lstStyle/>
          <a:p>
            <a:pPr algn="l">
              <a:spcBef>
                <a:spcPts val="0"/>
              </a:spcBef>
              <a:spcAft>
                <a:spcPts val="600"/>
              </a:spcAft>
            </a:pPr>
            <a:r>
              <a:rPr sz="1600" b="1">
                <a:solidFill>
                  <a:srgbClr val="0A4D8C"/>
                </a:solidFill>
                <a:latin typeface="Calibri"/>
              </a:rPr>
              <a:t>Catalog part numbers on unit pages</a:t>
            </a:r>
          </a:p>
          <a:p>
            <a:pPr algn="l">
              <a:spcBef>
                <a:spcPts val="0"/>
              </a:spcBef>
              <a:spcAft>
                <a:spcPts val="0"/>
              </a:spcAft>
            </a:pPr>
            <a:r>
              <a:rPr sz="1300" b="0">
                <a:solidFill>
                  <a:srgbClr val="0F172A"/>
                </a:solidFill>
                <a:latin typeface="Calibri"/>
              </a:rPr>
              <a:t>Directors may see type quantities on graphs. Stickers and unit pages do not show PNs.</a:t>
            </a:r>
          </a:p>
        </p:txBody>
      </p:sp>
      <p:sp>
        <p:nvSpPr>
          <p:cNvPr id="14" name="Rounded Rectangle 13"/>
          <p:cNvSpPr/>
          <p:nvPr/>
        </p:nvSpPr>
        <p:spPr>
          <a:xfrm>
            <a:off x="457200" y="2807208"/>
            <a:ext cx="5623560" cy="1554480"/>
          </a:xfrm>
          <a:prstGeom prst="roundRect">
            <a:avLst>
              <a:gd name="adj" fmla="val 8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807208"/>
            <a:ext cx="109728" cy="1554480"/>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063240"/>
            <a:ext cx="5029200" cy="1097280"/>
          </a:xfrm>
          <a:prstGeom prst="rect">
            <a:avLst/>
          </a:prstGeom>
          <a:noFill/>
        </p:spPr>
        <p:txBody>
          <a:bodyPr wrap="square">
            <a:spAutoFit/>
          </a:bodyPr>
          <a:lstStyle/>
          <a:p>
            <a:pPr algn="l">
              <a:spcBef>
                <a:spcPts val="0"/>
              </a:spcBef>
              <a:spcAft>
                <a:spcPts val="600"/>
              </a:spcAft>
            </a:pPr>
            <a:r>
              <a:rPr sz="1600" b="1">
                <a:solidFill>
                  <a:srgbClr val="0A4D8C"/>
                </a:solidFill>
                <a:latin typeface="Calibri"/>
              </a:rPr>
              <a:t>GPS, AFC tech names, job notes</a:t>
            </a:r>
          </a:p>
          <a:p>
            <a:pPr algn="l">
              <a:spcBef>
                <a:spcPts val="0"/>
              </a:spcBef>
              <a:spcAft>
                <a:spcPts val="0"/>
              </a:spcAft>
            </a:pPr>
            <a:r>
              <a:rPr sz="1300" b="0">
                <a:solidFill>
                  <a:srgbClr val="0F172A"/>
                </a:solidFill>
                <a:latin typeface="Calibri"/>
              </a:rPr>
              <a:t>Internal to Field. Hospital sees skip comments only, read-only.</a:t>
            </a:r>
          </a:p>
        </p:txBody>
      </p:sp>
      <p:sp>
        <p:nvSpPr>
          <p:cNvPr id="17" name="Rounded Rectangle 16"/>
          <p:cNvSpPr/>
          <p:nvPr/>
        </p:nvSpPr>
        <p:spPr>
          <a:xfrm>
            <a:off x="6309360" y="2807208"/>
            <a:ext cx="5623560" cy="1554480"/>
          </a:xfrm>
          <a:prstGeom prst="roundRect">
            <a:avLst>
              <a:gd name="adj" fmla="val 8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2807208"/>
            <a:ext cx="109728" cy="1554480"/>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3063240"/>
            <a:ext cx="5029200" cy="1097280"/>
          </a:xfrm>
          <a:prstGeom prst="rect">
            <a:avLst/>
          </a:prstGeom>
          <a:noFill/>
        </p:spPr>
        <p:txBody>
          <a:bodyPr wrap="square">
            <a:spAutoFit/>
          </a:bodyPr>
          <a:lstStyle/>
          <a:p>
            <a:pPr algn="l">
              <a:spcBef>
                <a:spcPts val="0"/>
              </a:spcBef>
              <a:spcAft>
                <a:spcPts val="600"/>
              </a:spcAft>
            </a:pPr>
            <a:r>
              <a:rPr sz="1600" b="1">
                <a:solidFill>
                  <a:srgbClr val="0A4D8C"/>
                </a:solidFill>
                <a:latin typeface="Calibri"/>
              </a:rPr>
              <a:t>Other hospitals</a:t>
            </a:r>
          </a:p>
          <a:p>
            <a:pPr algn="l">
              <a:spcBef>
                <a:spcPts val="0"/>
              </a:spcBef>
              <a:spcAft>
                <a:spcPts val="0"/>
              </a:spcAft>
            </a:pPr>
            <a:r>
              <a:rPr sz="1300" b="0">
                <a:solidFill>
                  <a:srgbClr val="0F172A"/>
                </a:solidFill>
                <a:latin typeface="Calibri"/>
              </a:rPr>
              <a:t>Every query is locked to the login’s hospital. There is no picker.</a:t>
            </a:r>
          </a:p>
        </p:txBody>
      </p:sp>
      <p:sp>
        <p:nvSpPr>
          <p:cNvPr id="20" name="Rounded Rectangle 19"/>
          <p:cNvSpPr/>
          <p:nvPr/>
        </p:nvSpPr>
        <p:spPr>
          <a:xfrm>
            <a:off x="457200" y="4498848"/>
            <a:ext cx="5623560" cy="1554480"/>
          </a:xfrm>
          <a:prstGeom prst="roundRect">
            <a:avLst>
              <a:gd name="adj" fmla="val 8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498848"/>
            <a:ext cx="109728" cy="1554480"/>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754880"/>
            <a:ext cx="5029200" cy="1097280"/>
          </a:xfrm>
          <a:prstGeom prst="rect">
            <a:avLst/>
          </a:prstGeom>
          <a:noFill/>
        </p:spPr>
        <p:txBody>
          <a:bodyPr wrap="square">
            <a:spAutoFit/>
          </a:bodyPr>
          <a:lstStyle/>
          <a:p>
            <a:pPr algn="l">
              <a:spcBef>
                <a:spcPts val="0"/>
              </a:spcBef>
              <a:spcAft>
                <a:spcPts val="600"/>
              </a:spcAft>
            </a:pPr>
            <a:r>
              <a:rPr sz="1600" b="1">
                <a:solidFill>
                  <a:srgbClr val="0A4D8C"/>
                </a:solidFill>
                <a:latin typeface="Calibri"/>
              </a:rPr>
              <a:t>Writes</a:t>
            </a:r>
          </a:p>
          <a:p>
            <a:pPr algn="l">
              <a:spcBef>
                <a:spcPts val="0"/>
              </a:spcBef>
              <a:spcAft>
                <a:spcPts val="0"/>
              </a:spcAft>
            </a:pPr>
            <a:r>
              <a:rPr sz="1300" b="0">
                <a:solidFill>
                  <a:srgbClr val="0F172A"/>
                </a:solidFill>
                <a:latin typeface="Calibri"/>
              </a:rPr>
              <a:t>No edit, no delete, no import. Scan is view. Contact is a message to AFC.</a:t>
            </a:r>
          </a:p>
        </p:txBody>
      </p:sp>
      <p:sp>
        <p:nvSpPr>
          <p:cNvPr id="23" name="Rounded Rectangle 22"/>
          <p:cNvSpPr/>
          <p:nvPr/>
        </p:nvSpPr>
        <p:spPr>
          <a:xfrm>
            <a:off x="6309360" y="4498848"/>
            <a:ext cx="5623560" cy="1554480"/>
          </a:xfrm>
          <a:prstGeom prst="roundRect">
            <a:avLst>
              <a:gd name="adj" fmla="val 8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4498848"/>
            <a:ext cx="109728" cy="1554480"/>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4754880"/>
            <a:ext cx="5029200" cy="1097280"/>
          </a:xfrm>
          <a:prstGeom prst="rect">
            <a:avLst/>
          </a:prstGeom>
          <a:noFill/>
        </p:spPr>
        <p:txBody>
          <a:bodyPr wrap="square">
            <a:spAutoFit/>
          </a:bodyPr>
          <a:lstStyle/>
          <a:p>
            <a:pPr algn="l">
              <a:spcBef>
                <a:spcPts val="0"/>
              </a:spcBef>
              <a:spcAft>
                <a:spcPts val="600"/>
              </a:spcAft>
            </a:pPr>
            <a:r>
              <a:rPr sz="1600" b="1">
                <a:solidFill>
                  <a:srgbClr val="0A4D8C"/>
                </a:solidFill>
                <a:latin typeface="Calibri"/>
              </a:rPr>
              <a:t>PHI</a:t>
            </a:r>
          </a:p>
          <a:p>
            <a:pPr algn="l">
              <a:spcBef>
                <a:spcPts val="0"/>
              </a:spcBef>
              <a:spcAft>
                <a:spcPts val="0"/>
              </a:spcAft>
            </a:pPr>
            <a:r>
              <a:rPr sz="1300" b="0">
                <a:solidFill>
                  <a:srgbClr val="0F172A"/>
                </a:solidFill>
                <a:latin typeface="Calibri"/>
              </a:rPr>
              <a:t>AHU names and filter PM dates. Not patients. Not an EHR. IT packet is in Docs.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4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73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ark-white.png"/>
          <p:cNvPicPr>
            <a:picLocks noChangeAspect="1"/>
          </p:cNvPicPr>
          <p:nvPr/>
        </p:nvPicPr>
        <p:blipFill>
          <a:blip r:embed="rId2"/>
          <a:stretch>
            <a:fillRect/>
          </a:stretch>
        </p:blipFill>
        <p:spPr>
          <a:xfrm>
            <a:off x="640080" y="1234440"/>
            <a:ext cx="1554480" cy="777240"/>
          </a:xfrm>
          <a:prstGeom prst="rect">
            <a:avLst/>
          </a:prstGeom>
        </p:spPr>
      </p:pic>
      <p:sp>
        <p:nvSpPr>
          <p:cNvPr id="5" name="TextBox 4"/>
          <p:cNvSpPr txBox="1"/>
          <p:nvPr/>
        </p:nvSpPr>
        <p:spPr>
          <a:xfrm>
            <a:off x="640080" y="2286000"/>
            <a:ext cx="10972800" cy="1371600"/>
          </a:xfrm>
          <a:prstGeom prst="rect">
            <a:avLst/>
          </a:prstGeom>
          <a:noFill/>
        </p:spPr>
        <p:txBody>
          <a:bodyPr wrap="square">
            <a:spAutoFit/>
          </a:bodyPr>
          <a:lstStyle/>
          <a:p>
            <a:pPr algn="l">
              <a:spcBef>
                <a:spcPts val="0"/>
              </a:spcBef>
              <a:spcAft>
                <a:spcPts val="0"/>
              </a:spcAft>
            </a:pPr>
            <a:r>
              <a:rPr sz="3200" b="1">
                <a:solidFill>
                  <a:srgbClr val="FFFFFF"/>
                </a:solidFill>
                <a:latin typeface="Calibri"/>
              </a:rPr>
              <a:t>Scan the unit. Do the job. See the status.</a:t>
            </a:r>
          </a:p>
        </p:txBody>
      </p:sp>
      <p:sp>
        <p:nvSpPr>
          <p:cNvPr id="6" name="TextBox 5"/>
          <p:cNvSpPr txBox="1"/>
          <p:nvPr/>
        </p:nvSpPr>
        <p:spPr>
          <a:xfrm>
            <a:off x="640080" y="3840480"/>
            <a:ext cx="10515600" cy="1371600"/>
          </a:xfrm>
          <a:prstGeom prst="rect">
            <a:avLst/>
          </a:prstGeom>
          <a:noFill/>
        </p:spPr>
        <p:txBody>
          <a:bodyPr wrap="square">
            <a:spAutoFit/>
          </a:bodyPr>
          <a:lstStyle/>
          <a:p>
            <a:pPr algn="l">
              <a:spcBef>
                <a:spcPts val="0"/>
              </a:spcBef>
              <a:spcAft>
                <a:spcPts val="800"/>
              </a:spcAft>
            </a:pPr>
            <a:r>
              <a:rPr sz="1800" b="0">
                <a:solidFill>
                  <a:srgbClr val="DBEAFE"/>
                </a:solidFill>
                <a:latin typeface="Calibri"/>
              </a:rPr>
              <a:t>AFC Field  —  our technicians</a:t>
            </a:r>
          </a:p>
          <a:p>
            <a:pPr algn="l">
              <a:spcBef>
                <a:spcPts val="0"/>
              </a:spcBef>
              <a:spcAft>
                <a:spcPts val="800"/>
              </a:spcAft>
            </a:pPr>
            <a:r>
              <a:rPr sz="1800" b="0">
                <a:solidFill>
                  <a:srgbClr val="DBEAFE"/>
                </a:solidFill>
                <a:latin typeface="Calibri"/>
              </a:rPr>
              <a:t>AFC Portal  —  the hospital, read-only</a:t>
            </a:r>
          </a:p>
          <a:p>
            <a:pPr algn="l">
              <a:spcBef>
                <a:spcPts val="0"/>
              </a:spcBef>
              <a:spcAft>
                <a:spcPts val="0"/>
              </a:spcAft>
            </a:pPr>
            <a:r>
              <a:rPr sz="1800" b="0">
                <a:solidFill>
                  <a:srgbClr val="FFFFFF"/>
                </a:solidFill>
                <a:latin typeface="Calibri"/>
              </a:rPr>
              <a:t>Same sticker. Same survey. Different doors.</a:t>
            </a:r>
          </a:p>
        </p:txBody>
      </p:sp>
      <p:sp>
        <p:nvSpPr>
          <p:cNvPr id="7" name="TextBox 6"/>
          <p:cNvSpPr txBox="1"/>
          <p:nvPr/>
        </p:nvSpPr>
        <p:spPr>
          <a:xfrm>
            <a:off x="640080" y="5852160"/>
            <a:ext cx="10515600" cy="457200"/>
          </a:xfrm>
          <a:prstGeom prst="rect">
            <a:avLst/>
          </a:prstGeom>
          <a:noFill/>
        </p:spPr>
        <p:txBody>
          <a:bodyPr wrap="square">
            <a:spAutoFit/>
          </a:bodyPr>
          <a:lstStyle/>
          <a:p>
            <a:pPr algn="l">
              <a:spcBef>
                <a:spcPts val="0"/>
              </a:spcBef>
              <a:spcAft>
                <a:spcPts val="0"/>
              </a:spcAft>
            </a:pPr>
            <a:r>
              <a:rPr sz="2000" b="1">
                <a:solidFill>
                  <a:srgbClr val="FFFFFF"/>
                </a:solidFill>
                <a:latin typeface="Calibri"/>
              </a:rPr>
              <a:t>Questions?   323.832.8316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